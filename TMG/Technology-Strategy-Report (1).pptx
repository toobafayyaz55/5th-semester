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Montserrat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83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4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4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20" y="573048"/>
            <a:ext cx="7685961" cy="467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0"/>
              </a:lnSpc>
              <a:buNone/>
            </a:pPr>
            <a:r>
              <a:rPr lang="en-US" sz="940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Technology Strategy Report</a:t>
            </a:r>
            <a:endParaRPr lang="en-US" sz="9400" dirty="0">
              <a:latin typeface="Century Gothic" panose="020B0502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29020" y="5556766"/>
            <a:ext cx="7685961" cy="124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7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AI-Powered Forecasting &amp; Automation for SSGC</a:t>
            </a:r>
            <a:endParaRPr lang="en-US" sz="3750" dirty="0">
              <a:latin typeface="Century Gothic" panose="020B0502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29020" y="7114818"/>
            <a:ext cx="7685961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Transforming Pakistan's largest gas utility through intelligent automation and predictive analytics</a:t>
            </a:r>
            <a:endParaRPr lang="en-US" sz="16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512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83" y="2733556"/>
            <a:ext cx="5150644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0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Times New Roman" panose="02020603050405020304" pitchFamily="18" charset="0"/>
              </a:rPr>
              <a:t>Company Overview</a:t>
            </a:r>
            <a:endParaRPr lang="en-US" sz="405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6983" y="3832979"/>
            <a:ext cx="7850981" cy="931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Times New Roman" panose="02020603050405020304" pitchFamily="18" charset="0"/>
              </a:rPr>
              <a:t>Sui Southern Gas Company (SSGC) is Pakistan's largest state-owned utility, responsible for natural gas transmission and distribution across Sindh and Balochistan. Despite advanced SCADA monitoring capabilities, critical operations still rely on manual data collection, introducing inefficiencies and delays.</a:t>
            </a:r>
            <a:endParaRPr lang="en-US" sz="14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6983" y="4925735"/>
            <a:ext cx="7850981" cy="465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Times New Roman" panose="02020603050405020304" pitchFamily="18" charset="0"/>
              </a:rPr>
              <a:t>Core Challenge:</a:t>
            </a: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Times New Roman" panose="02020603050405020304" pitchFamily="18" charset="0"/>
              </a:rPr>
              <a:t> Converting operational data into actionable insights through AI-powered forecasting and automation.</a:t>
            </a:r>
            <a:endParaRPr lang="en-US" sz="14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22544" y="3962757"/>
            <a:ext cx="5088374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Times New Roman" panose="02020603050405020304" pitchFamily="18" charset="0"/>
              </a:rPr>
              <a:t>2</a:t>
            </a:r>
            <a:endParaRPr lang="en-US" sz="465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79010" y="4777740"/>
            <a:ext cx="2575322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Times New Roman" panose="02020603050405020304" pitchFamily="18" charset="0"/>
              </a:rPr>
              <a:t>Provinces Served</a:t>
            </a:r>
            <a:endParaRPr lang="en-US" sz="20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922544" y="5291495"/>
            <a:ext cx="5088374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Times New Roman" panose="02020603050405020304" pitchFamily="18" charset="0"/>
              </a:rPr>
              <a:t>Sindh &amp; Balochistan</a:t>
            </a:r>
            <a:endParaRPr lang="en-US" sz="14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22544" y="5972175"/>
            <a:ext cx="5088374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Times New Roman" panose="02020603050405020304" pitchFamily="18" charset="0"/>
              </a:rPr>
              <a:t>3</a:t>
            </a:r>
            <a:endParaRPr lang="en-US" sz="465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79010" y="6787158"/>
            <a:ext cx="2575322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Times New Roman" panose="02020603050405020304" pitchFamily="18" charset="0"/>
              </a:rPr>
              <a:t>Key Sectors</a:t>
            </a:r>
            <a:endParaRPr lang="en-US" sz="20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922544" y="7300912"/>
            <a:ext cx="5088374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Times New Roman" panose="02020603050405020304" pitchFamily="18" charset="0"/>
              </a:rPr>
              <a:t>Residential, Commercial, Industrial</a:t>
            </a:r>
            <a:endParaRPr lang="en-US" sz="14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E7CDC7-A572-4AC4-AA60-9E56086683FB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2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8510" y="543758"/>
            <a:ext cx="5685234" cy="739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Current State Analysis</a:t>
            </a:r>
            <a:endParaRPr lang="en-US" sz="4450" dirty="0">
              <a:latin typeface="Century Gothic" panose="020B0502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178510" y="1579364"/>
            <a:ext cx="7759779" cy="2955727"/>
          </a:xfrm>
          <a:prstGeom prst="roundRect">
            <a:avLst>
              <a:gd name="adj" fmla="val 281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99014" y="1799868"/>
            <a:ext cx="593169" cy="593169"/>
          </a:xfrm>
          <a:prstGeom prst="roundRect">
            <a:avLst>
              <a:gd name="adj" fmla="val 15413964"/>
            </a:avLst>
          </a:prstGeom>
          <a:solidFill>
            <a:srgbClr val="FF954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2130" y="1962983"/>
            <a:ext cx="266938" cy="266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9014" y="2590681"/>
            <a:ext cx="2842617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Strengths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99014" y="3078837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SCADA-based real-time monitoring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399014" y="3405068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Sole gas provider with stable revenue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399014" y="3731300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Experienced technical workforce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99014" y="4057531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Government backing and support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178510" y="4732734"/>
            <a:ext cx="7759779" cy="2955727"/>
          </a:xfrm>
          <a:prstGeom prst="roundRect">
            <a:avLst>
              <a:gd name="adj" fmla="val 281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99014" y="4953238"/>
            <a:ext cx="593169" cy="593169"/>
          </a:xfrm>
          <a:prstGeom prst="roundRect">
            <a:avLst>
              <a:gd name="adj" fmla="val 15413964"/>
            </a:avLst>
          </a:prstGeom>
          <a:solidFill>
            <a:srgbClr val="FF954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2130" y="5116354"/>
            <a:ext cx="266938" cy="2669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99014" y="5744051"/>
            <a:ext cx="2842617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Weaknesses</a:t>
            </a:r>
            <a:endParaRPr lang="en-US" sz="2200" dirty="0">
              <a:latin typeface="Century Gothic" panose="020B0502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399014" y="6232208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Manual data collection processes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399014" y="6558439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No predictive analytics capability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99014" y="6884670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Dependence on senior staff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399014" y="7210901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Limited AI/analytics expertise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B55E69-1A03-43FC-A0F9-3F1E7DC555F1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699" y="504944"/>
            <a:ext cx="8051959" cy="68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Strategic Opportunities &amp; Threats</a:t>
            </a:r>
            <a:endParaRPr lang="en-US" sz="415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2699" y="1650206"/>
            <a:ext cx="3167658" cy="41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Opportunities</a:t>
            </a:r>
            <a:endParaRPr lang="en-US" sz="2450" dirty="0">
              <a:latin typeface="Century Gothic" panose="020B0502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18" y="2280047"/>
            <a:ext cx="275392" cy="275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9441" y="2268617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IoT Integration</a:t>
            </a:r>
            <a:endParaRPr lang="en-US" sz="2050" dirty="0">
              <a:latin typeface="Century Gothic" panose="020B0502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39441" y="2795349"/>
            <a:ext cx="585180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Automate data collection across network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18" y="3412569"/>
            <a:ext cx="275392" cy="275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9441" y="3401139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Predictive Tools</a:t>
            </a:r>
            <a:endParaRPr lang="en-US" sz="2050" dirty="0">
              <a:latin typeface="Century Gothic" panose="020B0502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239441" y="3927872"/>
            <a:ext cx="585180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Optimize supply chain performance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18" y="4545092"/>
            <a:ext cx="275392" cy="2753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9441" y="4533662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Digital Dashboards</a:t>
            </a:r>
            <a:endParaRPr lang="en-US" sz="2050" dirty="0">
              <a:latin typeface="Century Gothic" panose="020B0502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239441" y="5060394"/>
            <a:ext cx="585180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Real-time monitoring and alerts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18" y="5677614"/>
            <a:ext cx="275392" cy="2753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9441" y="5666184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Workforce Upskilling</a:t>
            </a:r>
            <a:endParaRPr lang="en-US" sz="2050" dirty="0">
              <a:latin typeface="Century Gothic" panose="020B0502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239441" y="6192917"/>
            <a:ext cx="585180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Training in analytics and automation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546777" y="1650206"/>
            <a:ext cx="3167658" cy="41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Threats</a:t>
            </a:r>
            <a:endParaRPr lang="en-US" sz="2450" dirty="0">
              <a:latin typeface="Century Gothic" panose="020B0502020202020204" pitchFamily="34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7546777" y="2268617"/>
            <a:ext cx="6448544" cy="1178243"/>
          </a:xfrm>
          <a:prstGeom prst="roundRect">
            <a:avLst>
              <a:gd name="adj" fmla="val 9313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523917" y="2268617"/>
            <a:ext cx="91440" cy="1178243"/>
          </a:xfrm>
          <a:prstGeom prst="roundRect">
            <a:avLst>
              <a:gd name="adj" fmla="val 84347"/>
            </a:avLst>
          </a:prstGeom>
          <a:solidFill>
            <a:srgbClr val="FF954F"/>
          </a:solidFill>
          <a:ln/>
        </p:spPr>
      </p:sp>
      <p:sp>
        <p:nvSpPr>
          <p:cNvPr id="19" name="Text 13"/>
          <p:cNvSpPr/>
          <p:nvPr/>
        </p:nvSpPr>
        <p:spPr>
          <a:xfrm>
            <a:off x="7821811" y="2475071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Cybersecurity Risks</a:t>
            </a:r>
            <a:endParaRPr lang="en-US" sz="2050" dirty="0">
              <a:latin typeface="Century Gothic" panose="020B0502020202020204" pitchFamily="34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821811" y="3001804"/>
            <a:ext cx="59670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Exposure to hacking and data breaches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7546777" y="3630454"/>
            <a:ext cx="6448544" cy="1178243"/>
          </a:xfrm>
          <a:prstGeom prst="roundRect">
            <a:avLst>
              <a:gd name="adj" fmla="val 9313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523917" y="3630454"/>
            <a:ext cx="91440" cy="1178243"/>
          </a:xfrm>
          <a:prstGeom prst="roundRect">
            <a:avLst>
              <a:gd name="adj" fmla="val 84347"/>
            </a:avLst>
          </a:prstGeom>
          <a:solidFill>
            <a:srgbClr val="FF954F"/>
          </a:solidFill>
          <a:ln/>
        </p:spPr>
      </p:sp>
      <p:sp>
        <p:nvSpPr>
          <p:cNvPr id="23" name="Text 17"/>
          <p:cNvSpPr/>
          <p:nvPr/>
        </p:nvSpPr>
        <p:spPr>
          <a:xfrm>
            <a:off x="7821811" y="3836908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Employee Resistance</a:t>
            </a:r>
            <a:endParaRPr lang="en-US" sz="2050" dirty="0">
              <a:latin typeface="Century Gothic" panose="020B05020202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821811" y="4363641"/>
            <a:ext cx="59670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Unfamiliarity with automation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7546777" y="4992291"/>
            <a:ext cx="6448544" cy="1178243"/>
          </a:xfrm>
          <a:prstGeom prst="roundRect">
            <a:avLst>
              <a:gd name="adj" fmla="val 9313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523917" y="4992291"/>
            <a:ext cx="91440" cy="1178243"/>
          </a:xfrm>
          <a:prstGeom prst="roundRect">
            <a:avLst>
              <a:gd name="adj" fmla="val 84347"/>
            </a:avLst>
          </a:prstGeom>
          <a:solidFill>
            <a:srgbClr val="FF954F"/>
          </a:solidFill>
          <a:ln/>
        </p:spPr>
      </p:sp>
      <p:sp>
        <p:nvSpPr>
          <p:cNvPr id="27" name="Text 21"/>
          <p:cNvSpPr/>
          <p:nvPr/>
        </p:nvSpPr>
        <p:spPr>
          <a:xfrm>
            <a:off x="7821811" y="5198745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Vendor Dependency</a:t>
            </a:r>
            <a:endParaRPr lang="en-US" sz="2050" dirty="0">
              <a:latin typeface="Century Gothic" panose="020B0502020202020204" pitchFamily="34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821811" y="5725477"/>
            <a:ext cx="59670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Reliance on third-party maintenance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546777" y="6354128"/>
            <a:ext cx="6448544" cy="1178243"/>
          </a:xfrm>
          <a:prstGeom prst="roundRect">
            <a:avLst>
              <a:gd name="adj" fmla="val 9313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523917" y="6354128"/>
            <a:ext cx="91440" cy="1178243"/>
          </a:xfrm>
          <a:prstGeom prst="roundRect">
            <a:avLst>
              <a:gd name="adj" fmla="val 84347"/>
            </a:avLst>
          </a:prstGeom>
          <a:solidFill>
            <a:srgbClr val="FF954F"/>
          </a:solidFill>
          <a:ln/>
        </p:spPr>
      </p:sp>
      <p:sp>
        <p:nvSpPr>
          <p:cNvPr id="31" name="Text 25"/>
          <p:cNvSpPr/>
          <p:nvPr/>
        </p:nvSpPr>
        <p:spPr>
          <a:xfrm>
            <a:off x="7821811" y="6560582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Transition Challenges</a:t>
            </a:r>
            <a:endParaRPr lang="en-US" sz="2050" dirty="0">
              <a:latin typeface="Century Gothic" panose="020B0502020202020204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7821811" y="7087314"/>
            <a:ext cx="59670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Data loss or compatibility issues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19F941-1F04-426B-A504-6003E2926960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373"/>
            <a:ext cx="8912662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Proposed Technology Solution</a:t>
            </a:r>
            <a:endParaRPr lang="en-US" sz="51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30824"/>
            <a:ext cx="8963978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Hybrid Automation &amp; AI-Based Forecasting System</a:t>
            </a:r>
            <a:endParaRPr lang="en-US" sz="3050" dirty="0">
              <a:latin typeface="Century Gothic" panose="020B0502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679502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64343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Gas Flow Forecasting</a:t>
            </a:r>
            <a:endParaRPr lang="en-US" sz="2550" dirty="0">
              <a:latin typeface="Century Gothic" panose="020B0502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4203383"/>
            <a:ext cx="637960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Predict inflow/outflow patterns using historical SCADA data and machine learning models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679502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64343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Inventory Planning</a:t>
            </a:r>
            <a:endParaRPr lang="en-US" sz="2550" dirty="0">
              <a:latin typeface="Century Gothic" panose="020B0502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456884" y="4203383"/>
            <a:ext cx="637972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Optimize gas supply scheduling based on demand predictions and seasonal trends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46608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210538"/>
            <a:ext cx="349115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Predictive Maintenance</a:t>
            </a:r>
            <a:endParaRPr lang="en-US" sz="2550" dirty="0">
              <a:latin typeface="Century Gothic" panose="020B0502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6770489"/>
            <a:ext cx="637960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Minimize equipment failures through AI-driven maintenance scheduling algorithms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5246608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210538"/>
            <a:ext cx="3477220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Automated Dashboards</a:t>
            </a:r>
            <a:endParaRPr lang="en-US" sz="2550" dirty="0">
              <a:latin typeface="Century Gothic" panose="020B0502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456884" y="6770489"/>
            <a:ext cx="637972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Real-time SCADA integration with automated reporting and Excel generation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ABA3E8-4712-49E1-964A-67F957AC5400}"/>
              </a:ext>
            </a:extLst>
          </p:cNvPr>
          <p:cNvSpPr/>
          <p:nvPr/>
        </p:nvSpPr>
        <p:spPr>
          <a:xfrm>
            <a:off x="12881610" y="776930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8032" y="770096"/>
            <a:ext cx="5516999" cy="717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30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Strategic Impact</a:t>
            </a:r>
            <a:endParaRPr lang="en-US" sz="4300" dirty="0">
              <a:latin typeface="Century Gothic" panose="020B0502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158032" y="1775103"/>
            <a:ext cx="7800737" cy="1401961"/>
          </a:xfrm>
          <a:prstGeom prst="roundRect">
            <a:avLst>
              <a:gd name="adj" fmla="val 574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72701" y="1989773"/>
            <a:ext cx="275844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Operational Efficiency</a:t>
            </a:r>
            <a:endParaRPr lang="en-US" sz="2150" dirty="0">
              <a:latin typeface="Century Gothic" panose="020B0502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72701" y="2463522"/>
            <a:ext cx="7371398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Automation reduces manual workload and improves real-time visibility across the network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58032" y="3368873"/>
            <a:ext cx="7800737" cy="1401961"/>
          </a:xfrm>
          <a:prstGeom prst="roundRect">
            <a:avLst>
              <a:gd name="adj" fmla="val 574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2701" y="3583543"/>
            <a:ext cx="275844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Cost Reduction</a:t>
            </a:r>
            <a:endParaRPr lang="en-US" sz="2150" dirty="0">
              <a:latin typeface="Century Gothic" panose="020B0502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72701" y="4057293"/>
            <a:ext cx="7371398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Predictive maintenance minimizes breakdowns and optimizes repair schedules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58032" y="4962644"/>
            <a:ext cx="7800737" cy="1152525"/>
          </a:xfrm>
          <a:prstGeom prst="roundRect">
            <a:avLst>
              <a:gd name="adj" fmla="val 699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2701" y="5177314"/>
            <a:ext cx="275844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Data-Driven Decisions</a:t>
            </a:r>
            <a:endParaRPr lang="en-US" sz="2150" dirty="0">
              <a:latin typeface="Century Gothic" panose="020B0502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72701" y="5651063"/>
            <a:ext cx="737139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Forecasting enables proactive planning and faster response to anomalies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58032" y="6306979"/>
            <a:ext cx="7800737" cy="1152525"/>
          </a:xfrm>
          <a:prstGeom prst="roundRect">
            <a:avLst>
              <a:gd name="adj" fmla="val 699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2701" y="6521648"/>
            <a:ext cx="275844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Service Reliability</a:t>
            </a:r>
            <a:endParaRPr lang="en-US" sz="2150" dirty="0">
              <a:latin typeface="Century Gothic" panose="020B0502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72701" y="6995398"/>
            <a:ext cx="737139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Accurate demand prediction ensures consistent gas supply to all sectors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1EB350-2C9A-454E-9FE2-FF4C7E958197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7236"/>
            <a:ext cx="7696319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Implementation Roadmap</a:t>
            </a:r>
            <a:endParaRPr lang="en-US" sz="5100" dirty="0">
              <a:latin typeface="Century Gothic" panose="020B0502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299960" y="2048589"/>
            <a:ext cx="30480" cy="5433774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4" name="Shape 2"/>
          <p:cNvSpPr/>
          <p:nvPr/>
        </p:nvSpPr>
        <p:spPr>
          <a:xfrm>
            <a:off x="6410087" y="2288500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5" name="Shape 3"/>
          <p:cNvSpPr/>
          <p:nvPr/>
        </p:nvSpPr>
        <p:spPr>
          <a:xfrm>
            <a:off x="7060049" y="204858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9580" y="2049423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3050" dirty="0">
              <a:latin typeface="Century Gothic" panose="020B0502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395180" y="2119432"/>
            <a:ext cx="378594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Short-Term (0–6 Months)</a:t>
            </a:r>
            <a:endParaRPr lang="en-US" sz="2550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2679383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Digitize manual data-entry processes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3053477"/>
            <a:ext cx="538734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Conduct AI and analytics training workshops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3722370"/>
            <a:ext cx="538734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Build initial dashboards with real-time metrics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391263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Begin pilot forecasting models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39871" y="364938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060049" y="34094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9580" y="3410307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3050" dirty="0">
              <a:latin typeface="Century Gothic" panose="020B0502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49270" y="3480316"/>
            <a:ext cx="3619738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Mid-Term (6–18 Months)</a:t>
            </a:r>
            <a:endParaRPr lang="en-US" sz="2550" dirty="0">
              <a:latin typeface="Century Gothic" panose="020B0502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49270" y="4040267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Fully integrate AI forecasting into SCADA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49270" y="4414361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Deploy predictive maintenance engine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49270" y="4788456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Implement smart alerts for anomalies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49270" y="5162550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Launch automated reporting system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10087" y="537960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60049" y="51396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9580" y="5140523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3050" dirty="0">
              <a:latin typeface="Century Gothic" panose="020B0502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86357" y="5210532"/>
            <a:ext cx="389477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Long-Term (18–36 Months)</a:t>
            </a:r>
            <a:endParaRPr lang="en-US" sz="2550" dirty="0">
              <a:latin typeface="Century Gothic" panose="020B0502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3790" y="5770483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Expand forecasting to seasonal trends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3790" y="6144578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Integrate IoT sensors for remote monitoring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3790" y="6518672"/>
            <a:ext cx="538734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Automate field operations via mobile capture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3790" y="7187565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Achieve fully self-adjusting hybrid system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CD357-47CF-4F44-A4F8-9A4EE607C77E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565547"/>
            <a:ext cx="8724424" cy="768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6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Technology Portfolio &amp; Maturity</a:t>
            </a:r>
            <a:endParaRPr lang="en-US" sz="4650" dirty="0">
              <a:latin typeface="Century Gothic" panose="020B0502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52" y="1745694"/>
            <a:ext cx="13190696" cy="66018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9191" y="4732855"/>
            <a:ext cx="2477359" cy="44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Low Maturity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13251" y="7749253"/>
            <a:ext cx="3409662" cy="44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Low Importance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360674" y="4732855"/>
            <a:ext cx="2477358" cy="44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High Maturity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05839" y="1980417"/>
            <a:ext cx="3409662" cy="44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High Importance</a:t>
            </a:r>
            <a:endParaRPr lang="en-US" sz="1550" dirty="0">
              <a:latin typeface="Century Gothic" panose="020B0502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416164" y="6318266"/>
            <a:ext cx="2543245" cy="59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Predictive Maintenance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5885" y="5519795"/>
            <a:ext cx="368969" cy="368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08185" y="6331443"/>
            <a:ext cx="2543245" cy="59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Emerging Capabilities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5323" y="5527619"/>
            <a:ext cx="368968" cy="3689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08185" y="3893617"/>
            <a:ext cx="2543245" cy="59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Automated Dashboards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5323" y="3089793"/>
            <a:ext cx="368968" cy="3689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37099" y="3893617"/>
            <a:ext cx="2543246" cy="59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AI Forecasting Models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4238" y="3089793"/>
            <a:ext cx="368968" cy="3689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8FF7CD5-AF8D-4510-85F9-D3FB335BB5ED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361" y="471726"/>
            <a:ext cx="6298049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Technology </a:t>
            </a:r>
            <a:r>
              <a:rPr lang="en-US" sz="38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S-Curve</a:t>
            </a: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Analysis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60" y="1454110"/>
            <a:ext cx="13048060" cy="63036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5F0AA1-23D7-4664-80C3-9B7288944C7D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461" y="353973"/>
            <a:ext cx="4526280" cy="47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Expected Outcomes &amp; KPIs</a:t>
            </a:r>
            <a:endParaRPr lang="en-US" sz="29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052405" y="1925360"/>
            <a:ext cx="157948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60%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050" y="1122759"/>
            <a:ext cx="1926312" cy="1926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16887" y="3209449"/>
            <a:ext cx="2250519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Reduction in Manual Work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9461" y="3526512"/>
            <a:ext cx="6785491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Decreased data entry workload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98393" y="1925360"/>
            <a:ext cx="157948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85%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038" y="1122759"/>
            <a:ext cx="1926312" cy="1926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65162" y="3209449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Forecasting Accuracy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395448" y="3526512"/>
            <a:ext cx="6785491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Improved prediction reliability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052405" y="4784884"/>
            <a:ext cx="157948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30%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050" y="3982283"/>
            <a:ext cx="1926312" cy="1926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19174" y="6068973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Fewer Failures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49461" y="6386036"/>
            <a:ext cx="6785491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Reduction in unplanned maintenance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998393" y="4784884"/>
            <a:ext cx="157948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95%</a:t>
            </a:r>
            <a:endParaRPr lang="en-US" sz="2500" dirty="0">
              <a:latin typeface="Century Gothic" panose="020B0502020202020204" pitchFamily="34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038" y="3982283"/>
            <a:ext cx="1926312" cy="1926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5162" y="6068973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System Uptime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395448" y="6386036"/>
            <a:ext cx="6785491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Increased network reliability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49461" y="6761518"/>
            <a:ext cx="13731478" cy="23574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449461" y="7057787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Financial Impact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449461" y="7426166"/>
            <a:ext cx="4321493" cy="33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10–15% reduction in operational costs and 20% decrease in resource wastage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091708" y="7057787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Service Quality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091708" y="7426166"/>
            <a:ext cx="4321493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50–70% faster reporting and 40–50% quicker fault response times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9733955" y="7057787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Digital Adoption</a:t>
            </a:r>
            <a:endParaRPr lang="en-US" sz="1450" dirty="0">
              <a:latin typeface="Century Gothic" panose="020B0502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9733955" y="7426166"/>
            <a:ext cx="4461986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80% staff trained on AI tools with 70%+ organizational adoption rate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EAE1AD-0E8B-4908-9249-44B15E3B95CB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6722" y="493395"/>
            <a:ext cx="6609874" cy="715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30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Risk Management &amp; Ethics</a:t>
            </a:r>
            <a:endParaRPr lang="en-US" sz="4300" dirty="0">
              <a:latin typeface="Century Gothic" panose="020B0502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156722" y="1530668"/>
            <a:ext cx="7803356" cy="1399222"/>
          </a:xfrm>
          <a:prstGeom prst="roundRect">
            <a:avLst>
              <a:gd name="adj" fmla="val 5749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79582" y="1553528"/>
            <a:ext cx="766048" cy="1353503"/>
          </a:xfrm>
          <a:prstGeom prst="roundRect">
            <a:avLst>
              <a:gd name="adj" fmla="val 6920"/>
            </a:avLst>
          </a:prstGeom>
          <a:solidFill>
            <a:srgbClr val="FFFFF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7587" y="2086689"/>
            <a:ext cx="287179" cy="287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7083" y="1744980"/>
            <a:ext cx="27530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Cybersecurity</a:t>
            </a:r>
            <a:endParaRPr lang="en-US" sz="2150" dirty="0">
              <a:latin typeface="Century Gothic" panose="020B0502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137083" y="2217658"/>
            <a:ext cx="6608683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Implement robust security protocols to protect AI-driven systems from threats and breaches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156722" y="3121343"/>
            <a:ext cx="7803356" cy="1399222"/>
          </a:xfrm>
          <a:prstGeom prst="roundRect">
            <a:avLst>
              <a:gd name="adj" fmla="val 5749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79582" y="3144203"/>
            <a:ext cx="766048" cy="1353503"/>
          </a:xfrm>
          <a:prstGeom prst="roundRect">
            <a:avLst>
              <a:gd name="adj" fmla="val 6920"/>
            </a:avLst>
          </a:prstGeom>
          <a:solidFill>
            <a:srgbClr val="FFFFF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7587" y="3677364"/>
            <a:ext cx="287179" cy="2871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7083" y="3335655"/>
            <a:ext cx="27530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Workforce Transition</a:t>
            </a:r>
            <a:endParaRPr lang="en-US" sz="2150" dirty="0">
              <a:latin typeface="Century Gothic" panose="020B0502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137083" y="3808333"/>
            <a:ext cx="6608683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Focus on upskilling rather than replacement; address resistance through training and transparency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156722" y="4712018"/>
            <a:ext cx="7803356" cy="1399222"/>
          </a:xfrm>
          <a:prstGeom prst="roundRect">
            <a:avLst>
              <a:gd name="adj" fmla="val 5749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9582" y="4734878"/>
            <a:ext cx="766048" cy="1353503"/>
          </a:xfrm>
          <a:prstGeom prst="roundRect">
            <a:avLst>
              <a:gd name="adj" fmla="val 6920"/>
            </a:avLst>
          </a:prstGeom>
          <a:solidFill>
            <a:srgbClr val="FFFFF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7587" y="5268039"/>
            <a:ext cx="287179" cy="2871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7083" y="4926330"/>
            <a:ext cx="27530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Data Integrity</a:t>
            </a:r>
            <a:endParaRPr lang="en-US" sz="2150" dirty="0">
              <a:latin typeface="Century Gothic" panose="020B0502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137083" y="5399008"/>
            <a:ext cx="6608683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Ensure accuracy in predictive algorithms and maintain strict confidentiality of operational data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156722" y="6302693"/>
            <a:ext cx="7803356" cy="1399222"/>
          </a:xfrm>
          <a:prstGeom prst="roundRect">
            <a:avLst>
              <a:gd name="adj" fmla="val 5749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79582" y="6325553"/>
            <a:ext cx="766048" cy="1353503"/>
          </a:xfrm>
          <a:prstGeom prst="roundRect">
            <a:avLst>
              <a:gd name="adj" fmla="val 6920"/>
            </a:avLst>
          </a:prstGeom>
          <a:solidFill>
            <a:srgbClr val="FFFFF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7587" y="6858714"/>
            <a:ext cx="287179" cy="28717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7083" y="6517005"/>
            <a:ext cx="27530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IP Protection</a:t>
            </a:r>
            <a:endParaRPr lang="en-US" sz="2150" dirty="0">
              <a:latin typeface="Century Gothic" panose="020B0502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7137083" y="6989683"/>
            <a:ext cx="6608683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Secure proprietary AI algorithms, dashboards, and maintain data ownership agreements with vendors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7A7C53-7AAD-46CD-AD20-0AC4D58476E4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602"/>
            <a:ext cx="11261288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Century Gothic" panose="020B0502020202020204" pitchFamily="34" charset="0"/>
                <a:ea typeface="Marcellus" pitchFamily="34" charset="-122"/>
                <a:cs typeface="Marcellus" pitchFamily="34" charset="-120"/>
              </a:rPr>
              <a:t>SSGC Site Visit &amp; Stakeholder Meeting</a:t>
            </a:r>
            <a:endParaRPr lang="en-US" sz="5100" dirty="0">
              <a:latin typeface="Century Gothic" panose="020B0502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18955"/>
            <a:ext cx="130428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As part of our initial engagement phase, a comprehensive site visit was conducted at SSGC facilities. This visit facilitated direct collaboration with key personnel, allowing our team to gain deeper insights into existing operational workflows and infrastructure.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3404473"/>
            <a:ext cx="4221599" cy="272188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460" y="3404473"/>
            <a:ext cx="4221599" cy="272188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510" y="3404473"/>
            <a:ext cx="4221599" cy="27218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3790" y="6527483"/>
            <a:ext cx="130428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Century Gothic" panose="020B0502020202020204" pitchFamily="34" charset="0"/>
                <a:ea typeface="Montserrat" pitchFamily="34" charset="-122"/>
                <a:cs typeface="Montserrat" pitchFamily="34" charset="-120"/>
              </a:rPr>
              <a:t>These crucial stakeholder engagement and requirements gathering sessions were instrumental in validating our preliminary assessments and ensuring precise alignment on the strategic objectives for the upcoming AI-powered forecasting and automation initiative.</a:t>
            </a:r>
            <a:endParaRPr lang="en-US" sz="1750" dirty="0"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17BEE2-E0B7-48D1-8338-0B6867FA7134}"/>
              </a:ext>
            </a:extLst>
          </p:cNvPr>
          <p:cNvSpPr/>
          <p:nvPr/>
        </p:nvSpPr>
        <p:spPr>
          <a:xfrm>
            <a:off x="12881610" y="7757874"/>
            <a:ext cx="1634490" cy="345996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636</Words>
  <Application>Microsoft Office PowerPoint</Application>
  <PresentationFormat>Custom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Century Gothic</vt:lpstr>
      <vt:lpstr>Calibri</vt:lpstr>
      <vt:lpstr>Arial</vt:lpstr>
      <vt:lpstr>Montserrat</vt:lpstr>
      <vt:lpstr>Times New Roman</vt:lpstr>
      <vt:lpstr>Marcellus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h.p</cp:lastModifiedBy>
  <cp:revision>2</cp:revision>
  <dcterms:created xsi:type="dcterms:W3CDTF">2025-11-16T20:28:36Z</dcterms:created>
  <dcterms:modified xsi:type="dcterms:W3CDTF">2025-11-16T20:35:59Z</dcterms:modified>
</cp:coreProperties>
</file>