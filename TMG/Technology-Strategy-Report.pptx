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20" y="573048"/>
            <a:ext cx="7685961" cy="467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50"/>
              </a:lnSpc>
              <a:buNone/>
            </a:pPr>
            <a:r>
              <a:rPr lang="en-US" sz="9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Technology Strategy Report</a:t>
            </a:r>
            <a:endParaRPr lang="en-US" sz="9400" dirty="0"/>
          </a:p>
        </p:txBody>
      </p:sp>
      <p:sp>
        <p:nvSpPr>
          <p:cNvPr id="4" name="Text 1"/>
          <p:cNvSpPr/>
          <p:nvPr/>
        </p:nvSpPr>
        <p:spPr>
          <a:xfrm>
            <a:off x="729020" y="5556766"/>
            <a:ext cx="7685961" cy="124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AI-Powered Forecasting &amp; Automation for SSGC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729020" y="7114818"/>
            <a:ext cx="7685961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Transforming Pakistan's largest gas utility through intelligent automation and predictive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512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983" y="2733556"/>
            <a:ext cx="5150644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Company Overview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26983" y="3832979"/>
            <a:ext cx="7850981" cy="931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 Southern Gas Company (SSGC) is Pakistan's largest state-owned utility, responsible for natural gas transmission and distribution across Sindh and Balochistan. Despite advanced SCADA monitoring capabilities, critical operations still rely on manual data collection, introducing inefficiencies and delays.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6983" y="4925735"/>
            <a:ext cx="7850981" cy="465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Challenge:</a:t>
            </a:r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Converting operational data into actionable insights through AI-powered forecasting and automation.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922544" y="3962757"/>
            <a:ext cx="5088374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4650" dirty="0"/>
          </a:p>
        </p:txBody>
      </p:sp>
      <p:sp>
        <p:nvSpPr>
          <p:cNvPr id="7" name="Text 4"/>
          <p:cNvSpPr/>
          <p:nvPr/>
        </p:nvSpPr>
        <p:spPr>
          <a:xfrm>
            <a:off x="10179010" y="4777740"/>
            <a:ext cx="2575322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Provinces Served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22544" y="5291495"/>
            <a:ext cx="5088374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Sindh &amp; Balochistan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22544" y="5972175"/>
            <a:ext cx="5088374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50"/>
              </a:lnSpc>
              <a:buNone/>
            </a:pPr>
            <a:r>
              <a:rPr lang="en-US" sz="4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4650" dirty="0"/>
          </a:p>
        </p:txBody>
      </p:sp>
      <p:sp>
        <p:nvSpPr>
          <p:cNvPr id="10" name="Text 7"/>
          <p:cNvSpPr/>
          <p:nvPr/>
        </p:nvSpPr>
        <p:spPr>
          <a:xfrm>
            <a:off x="10179010" y="6787158"/>
            <a:ext cx="2575322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Sectors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922544" y="7300912"/>
            <a:ext cx="5088374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Residential, Commercial, Industrial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322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8510" y="543758"/>
            <a:ext cx="5685234" cy="739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Current State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178510" y="1579364"/>
            <a:ext cx="7759779" cy="2955727"/>
          </a:xfrm>
          <a:prstGeom prst="roundRect">
            <a:avLst>
              <a:gd name="adj" fmla="val 281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99014" y="1799868"/>
            <a:ext cx="593169" cy="593169"/>
          </a:xfrm>
          <a:prstGeom prst="roundRect">
            <a:avLst>
              <a:gd name="adj" fmla="val 15413964"/>
            </a:avLst>
          </a:prstGeom>
          <a:solidFill>
            <a:srgbClr val="FF954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2130" y="1962983"/>
            <a:ext cx="266938" cy="266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99014" y="2590681"/>
            <a:ext cx="2842617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Strengths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399014" y="3078837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SCADA-based real-time monitoring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399014" y="3405068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Sole gas provider with stable revenue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399014" y="3731300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Experienced technical workforce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399014" y="4057531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Government backing and support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178510" y="4732734"/>
            <a:ext cx="7759779" cy="2955727"/>
          </a:xfrm>
          <a:prstGeom prst="roundRect">
            <a:avLst>
              <a:gd name="adj" fmla="val 2810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99014" y="4953238"/>
            <a:ext cx="593169" cy="593169"/>
          </a:xfrm>
          <a:prstGeom prst="roundRect">
            <a:avLst>
              <a:gd name="adj" fmla="val 15413964"/>
            </a:avLst>
          </a:prstGeom>
          <a:solidFill>
            <a:srgbClr val="FF95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2130" y="5116354"/>
            <a:ext cx="266938" cy="2669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99014" y="5744051"/>
            <a:ext cx="2842617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Weaknesses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399014" y="6232208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data collection processes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399014" y="6558439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predictive analytics capability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99014" y="6884670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Dependence on senior staff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399014" y="7210901"/>
            <a:ext cx="7318772" cy="257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AI/analytics expertise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699" y="504944"/>
            <a:ext cx="8051959" cy="68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Strategic Opportunities &amp; Threats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642699" y="1650206"/>
            <a:ext cx="3167658" cy="41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Opportunities</a:t>
            </a:r>
            <a:endParaRPr lang="en-US" sz="2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518" y="2280047"/>
            <a:ext cx="275392" cy="275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9441" y="2268617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IoT Integration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239441" y="2795349"/>
            <a:ext cx="5851803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data collection across network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18" y="3412569"/>
            <a:ext cx="275392" cy="2753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9441" y="3401139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Predictive Tools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1239441" y="3927872"/>
            <a:ext cx="5851803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supply chain performance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518" y="4545092"/>
            <a:ext cx="275392" cy="2753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9441" y="4533662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Digital Dashboards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1239441" y="5060394"/>
            <a:ext cx="5851803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monitoring and alerts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518" y="5677614"/>
            <a:ext cx="275392" cy="2753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9441" y="5666184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Workforce Upskilling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239441" y="6192917"/>
            <a:ext cx="5851803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in analytics and automation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546777" y="1650206"/>
            <a:ext cx="3167658" cy="411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Threats</a:t>
            </a:r>
            <a:endParaRPr lang="en-US" sz="2450" dirty="0"/>
          </a:p>
        </p:txBody>
      </p:sp>
      <p:sp>
        <p:nvSpPr>
          <p:cNvPr id="17" name="Shape 11"/>
          <p:cNvSpPr/>
          <p:nvPr/>
        </p:nvSpPr>
        <p:spPr>
          <a:xfrm>
            <a:off x="7546777" y="2268617"/>
            <a:ext cx="6448544" cy="1178243"/>
          </a:xfrm>
          <a:prstGeom prst="roundRect">
            <a:avLst>
              <a:gd name="adj" fmla="val 9313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523917" y="2268617"/>
            <a:ext cx="91440" cy="1178243"/>
          </a:xfrm>
          <a:prstGeom prst="roundRect">
            <a:avLst>
              <a:gd name="adj" fmla="val 84347"/>
            </a:avLst>
          </a:prstGeom>
          <a:solidFill>
            <a:srgbClr val="FF954F"/>
          </a:solidFill>
          <a:ln/>
        </p:spPr>
      </p:sp>
      <p:sp>
        <p:nvSpPr>
          <p:cNvPr id="19" name="Text 13"/>
          <p:cNvSpPr/>
          <p:nvPr/>
        </p:nvSpPr>
        <p:spPr>
          <a:xfrm>
            <a:off x="7821811" y="2475071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Cybersecurity Risks</a:t>
            </a:r>
            <a:endParaRPr lang="en-US" sz="2050" dirty="0"/>
          </a:p>
        </p:txBody>
      </p:sp>
      <p:sp>
        <p:nvSpPr>
          <p:cNvPr id="20" name="Text 14"/>
          <p:cNvSpPr/>
          <p:nvPr/>
        </p:nvSpPr>
        <p:spPr>
          <a:xfrm>
            <a:off x="7821811" y="3001804"/>
            <a:ext cx="59670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Exposure to hacking and data breaches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546777" y="3630454"/>
            <a:ext cx="6448544" cy="1178243"/>
          </a:xfrm>
          <a:prstGeom prst="roundRect">
            <a:avLst>
              <a:gd name="adj" fmla="val 9313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523917" y="3630454"/>
            <a:ext cx="91440" cy="1178243"/>
          </a:xfrm>
          <a:prstGeom prst="roundRect">
            <a:avLst>
              <a:gd name="adj" fmla="val 84347"/>
            </a:avLst>
          </a:prstGeom>
          <a:solidFill>
            <a:srgbClr val="FF954F"/>
          </a:solidFill>
          <a:ln/>
        </p:spPr>
      </p:sp>
      <p:sp>
        <p:nvSpPr>
          <p:cNvPr id="23" name="Text 17"/>
          <p:cNvSpPr/>
          <p:nvPr/>
        </p:nvSpPr>
        <p:spPr>
          <a:xfrm>
            <a:off x="7821811" y="3836908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Employee Resistance</a:t>
            </a:r>
            <a:endParaRPr lang="en-US" sz="2050" dirty="0"/>
          </a:p>
        </p:txBody>
      </p:sp>
      <p:sp>
        <p:nvSpPr>
          <p:cNvPr id="24" name="Text 18"/>
          <p:cNvSpPr/>
          <p:nvPr/>
        </p:nvSpPr>
        <p:spPr>
          <a:xfrm>
            <a:off x="7821811" y="4363641"/>
            <a:ext cx="59670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Unfamiliarity with automation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7546777" y="4992291"/>
            <a:ext cx="6448544" cy="1178243"/>
          </a:xfrm>
          <a:prstGeom prst="roundRect">
            <a:avLst>
              <a:gd name="adj" fmla="val 9313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523917" y="4992291"/>
            <a:ext cx="91440" cy="1178243"/>
          </a:xfrm>
          <a:prstGeom prst="roundRect">
            <a:avLst>
              <a:gd name="adj" fmla="val 84347"/>
            </a:avLst>
          </a:prstGeom>
          <a:solidFill>
            <a:srgbClr val="FF954F"/>
          </a:solidFill>
          <a:ln/>
        </p:spPr>
      </p:sp>
      <p:sp>
        <p:nvSpPr>
          <p:cNvPr id="27" name="Text 21"/>
          <p:cNvSpPr/>
          <p:nvPr/>
        </p:nvSpPr>
        <p:spPr>
          <a:xfrm>
            <a:off x="7821811" y="5198745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Vendor Dependency</a:t>
            </a:r>
            <a:endParaRPr lang="en-US" sz="2050" dirty="0"/>
          </a:p>
        </p:txBody>
      </p:sp>
      <p:sp>
        <p:nvSpPr>
          <p:cNvPr id="28" name="Text 22"/>
          <p:cNvSpPr/>
          <p:nvPr/>
        </p:nvSpPr>
        <p:spPr>
          <a:xfrm>
            <a:off x="7821811" y="5725477"/>
            <a:ext cx="59670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Reliance on third-party maintenance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7546777" y="6354128"/>
            <a:ext cx="6448544" cy="1178243"/>
          </a:xfrm>
          <a:prstGeom prst="roundRect">
            <a:avLst>
              <a:gd name="adj" fmla="val 9313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523917" y="6354128"/>
            <a:ext cx="91440" cy="1178243"/>
          </a:xfrm>
          <a:prstGeom prst="roundRect">
            <a:avLst>
              <a:gd name="adj" fmla="val 84347"/>
            </a:avLst>
          </a:prstGeom>
          <a:solidFill>
            <a:srgbClr val="FF954F"/>
          </a:solidFill>
          <a:ln/>
        </p:spPr>
      </p:sp>
      <p:sp>
        <p:nvSpPr>
          <p:cNvPr id="31" name="Text 25"/>
          <p:cNvSpPr/>
          <p:nvPr/>
        </p:nvSpPr>
        <p:spPr>
          <a:xfrm>
            <a:off x="7821811" y="6560582"/>
            <a:ext cx="2639735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Transition Challenges</a:t>
            </a:r>
            <a:endParaRPr lang="en-US" sz="2050" dirty="0"/>
          </a:p>
        </p:txBody>
      </p:sp>
      <p:sp>
        <p:nvSpPr>
          <p:cNvPr id="32" name="Text 26"/>
          <p:cNvSpPr/>
          <p:nvPr/>
        </p:nvSpPr>
        <p:spPr>
          <a:xfrm>
            <a:off x="7821811" y="7087314"/>
            <a:ext cx="5967055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loss or compatibility issues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0943"/>
            <a:ext cx="8912662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Proposed Technology Solution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1819394"/>
            <a:ext cx="8963978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Hybrid Automation &amp; AI-Based Forecasting System</a:t>
            </a:r>
            <a:endParaRPr lang="en-US" sz="3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668072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63200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Gas Flow Forecasting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793790" y="4191953"/>
            <a:ext cx="637960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inflow/outflow patterns using historical SCADA data and machine learning models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668072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63200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Inventory Planning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7456884" y="4191953"/>
            <a:ext cx="637972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 gas supply scheduling based on demand predictions and seasonal trends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235178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199108"/>
            <a:ext cx="3491151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Predictive Maintenance</a:t>
            </a:r>
            <a:endParaRPr lang="en-US" sz="2550" dirty="0"/>
          </a:p>
        </p:txBody>
      </p:sp>
      <p:sp>
        <p:nvSpPr>
          <p:cNvPr id="12" name="Text 7"/>
          <p:cNvSpPr/>
          <p:nvPr/>
        </p:nvSpPr>
        <p:spPr>
          <a:xfrm>
            <a:off x="793790" y="6759059"/>
            <a:ext cx="637960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Minimize equipment failures through AI-driven maintenance scheduling algorithms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235178"/>
            <a:ext cx="680442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199108"/>
            <a:ext cx="3477220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Automated Dashboards</a:t>
            </a:r>
            <a:endParaRPr lang="en-US" sz="2550" dirty="0"/>
          </a:p>
        </p:txBody>
      </p:sp>
      <p:sp>
        <p:nvSpPr>
          <p:cNvPr id="15" name="Text 9"/>
          <p:cNvSpPr/>
          <p:nvPr/>
        </p:nvSpPr>
        <p:spPr>
          <a:xfrm>
            <a:off x="7456884" y="6759059"/>
            <a:ext cx="637972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SCADA integration with automated reporting and Excel generation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8032" y="770096"/>
            <a:ext cx="5516999" cy="717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Strategic Impact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158032" y="1775103"/>
            <a:ext cx="7800737" cy="1401961"/>
          </a:xfrm>
          <a:prstGeom prst="roundRect">
            <a:avLst>
              <a:gd name="adj" fmla="val 574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72701" y="1989773"/>
            <a:ext cx="275844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Operational Efficiency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72701" y="2463522"/>
            <a:ext cx="7371398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reduces manual workload and improves real-time visibility across the network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58032" y="3368873"/>
            <a:ext cx="7800737" cy="1401961"/>
          </a:xfrm>
          <a:prstGeom prst="roundRect">
            <a:avLst>
              <a:gd name="adj" fmla="val 574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72701" y="3583543"/>
            <a:ext cx="275844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Cost Reduction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372701" y="4057293"/>
            <a:ext cx="7371398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maintenance minimizes breakdowns and optimizes repair schedules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58032" y="4962644"/>
            <a:ext cx="7800737" cy="1152525"/>
          </a:xfrm>
          <a:prstGeom prst="roundRect">
            <a:avLst>
              <a:gd name="adj" fmla="val 699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2701" y="5177314"/>
            <a:ext cx="275844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Data-Driven Decisions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372701" y="5651063"/>
            <a:ext cx="737139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Forecasting enables proactive planning and faster response to anomalies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8032" y="6306979"/>
            <a:ext cx="7800737" cy="1152525"/>
          </a:xfrm>
          <a:prstGeom prst="roundRect">
            <a:avLst>
              <a:gd name="adj" fmla="val 6993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2701" y="6521648"/>
            <a:ext cx="2758440" cy="358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Service Reliability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372701" y="6995398"/>
            <a:ext cx="737139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Accurate demand prediction ensures consistent gas supply to all sectors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7236"/>
            <a:ext cx="7696319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Implementation Roadmap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299960" y="2048589"/>
            <a:ext cx="30480" cy="5433774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4" name="Shape 2"/>
          <p:cNvSpPr/>
          <p:nvPr/>
        </p:nvSpPr>
        <p:spPr>
          <a:xfrm>
            <a:off x="6410087" y="2288500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5" name="Shape 3"/>
          <p:cNvSpPr/>
          <p:nvPr/>
        </p:nvSpPr>
        <p:spPr>
          <a:xfrm>
            <a:off x="7060049" y="204858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9580" y="2049423"/>
            <a:ext cx="391239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3050" dirty="0"/>
          </a:p>
        </p:txBody>
      </p:sp>
      <p:sp>
        <p:nvSpPr>
          <p:cNvPr id="7" name="Text 5"/>
          <p:cNvSpPr/>
          <p:nvPr/>
        </p:nvSpPr>
        <p:spPr>
          <a:xfrm>
            <a:off x="2395180" y="2119432"/>
            <a:ext cx="3785949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Short-Term (0–6 Months)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793790" y="2679383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Digitize manual data-entry processes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3053477"/>
            <a:ext cx="538734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Conduct AI and analytics training workshops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3722370"/>
            <a:ext cx="538734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initial dashboards with real-time metrics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391263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Begin pilot forecasting models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39871" y="364938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13" name="Shape 11"/>
          <p:cNvSpPr/>
          <p:nvPr/>
        </p:nvSpPr>
        <p:spPr>
          <a:xfrm>
            <a:off x="7060049" y="340947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9580" y="3410307"/>
            <a:ext cx="391239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3050" dirty="0"/>
          </a:p>
        </p:txBody>
      </p:sp>
      <p:sp>
        <p:nvSpPr>
          <p:cNvPr id="15" name="Text 13"/>
          <p:cNvSpPr/>
          <p:nvPr/>
        </p:nvSpPr>
        <p:spPr>
          <a:xfrm>
            <a:off x="8449270" y="3480316"/>
            <a:ext cx="3619738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Mid-Term (6–18 Months)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449270" y="4040267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Fully integrate AI forecasting into SCADA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449270" y="4414361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predictive maintenance engine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449270" y="4788456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smart alerts for anomalies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449270" y="5162550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 automated reporting system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6410087" y="537960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FFE0C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60049" y="513969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9580" y="5140523"/>
            <a:ext cx="391239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50"/>
              </a:lnSpc>
              <a:buNone/>
            </a:pPr>
            <a:r>
              <a:rPr lang="en-US" sz="3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3050" dirty="0"/>
          </a:p>
        </p:txBody>
      </p:sp>
      <p:sp>
        <p:nvSpPr>
          <p:cNvPr id="23" name="Text 21"/>
          <p:cNvSpPr/>
          <p:nvPr/>
        </p:nvSpPr>
        <p:spPr>
          <a:xfrm>
            <a:off x="2286357" y="5210532"/>
            <a:ext cx="389477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Long-Term (18–36 Months)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793790" y="5770483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forecasting to seasonal trends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93790" y="6144578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IoT sensors for remote monitoring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93790" y="6518672"/>
            <a:ext cx="538734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field operations via mobile capture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93790" y="7187565"/>
            <a:ext cx="538734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Achieve fully self-adjusting hybrid system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52" y="565547"/>
            <a:ext cx="8724424" cy="768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Technology Portfolio &amp; Maturity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52" y="1745694"/>
            <a:ext cx="13190696" cy="66018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9191" y="4732855"/>
            <a:ext cx="2477359" cy="44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Low Maturity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613251" y="7749253"/>
            <a:ext cx="3409662" cy="44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Low Importance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360674" y="4732855"/>
            <a:ext cx="2477358" cy="44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High Maturity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605839" y="1980417"/>
            <a:ext cx="3409662" cy="44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High Importance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416164" y="6318266"/>
            <a:ext cx="2543245" cy="59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Maintenance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5885" y="5519795"/>
            <a:ext cx="368969" cy="368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08185" y="6331443"/>
            <a:ext cx="2543245" cy="59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Emerging Capabilities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5323" y="5527619"/>
            <a:ext cx="368968" cy="3689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08185" y="3893617"/>
            <a:ext cx="2543245" cy="59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Dashboards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5323" y="3089793"/>
            <a:ext cx="368968" cy="3689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37099" y="3893617"/>
            <a:ext cx="2543246" cy="592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Forecasting Models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4238" y="3089793"/>
            <a:ext cx="368968" cy="368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361" y="471726"/>
            <a:ext cx="6298049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3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Technology S-Curve Analysis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361" y="1454110"/>
            <a:ext cx="9191744" cy="63036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461" y="353973"/>
            <a:ext cx="4526280" cy="47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2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Expected Outcomes &amp; KPIs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052405" y="1925360"/>
            <a:ext cx="157948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60%</a:t>
            </a:r>
            <a:endParaRPr lang="en-US" sz="2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9050" y="1122759"/>
            <a:ext cx="1926312" cy="1926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16887" y="3209449"/>
            <a:ext cx="2250519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Reduction in Manual Work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49461" y="3526512"/>
            <a:ext cx="6785491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Decreased data entry workload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998393" y="1925360"/>
            <a:ext cx="157948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85%</a:t>
            </a:r>
            <a:endParaRPr lang="en-US" sz="2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038" y="1122759"/>
            <a:ext cx="1926312" cy="1926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65162" y="3209449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Forecasting Accuracy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395448" y="3526512"/>
            <a:ext cx="6785491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Improved prediction reliability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52405" y="4784884"/>
            <a:ext cx="157948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30%</a:t>
            </a:r>
            <a:endParaRPr lang="en-US" sz="2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050" y="3982283"/>
            <a:ext cx="1926312" cy="19263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19174" y="6068973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Fewer Failures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49461" y="6386036"/>
            <a:ext cx="6785491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Reduction in unplanned maintenance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9998393" y="4784884"/>
            <a:ext cx="157948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95%</a:t>
            </a:r>
            <a:endParaRPr lang="en-US" sz="2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038" y="3982283"/>
            <a:ext cx="1926312" cy="1926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65162" y="6068973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Uptime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7395448" y="6386036"/>
            <a:ext cx="6785491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Increased network reliability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49461" y="6761518"/>
            <a:ext cx="13731478" cy="23574"/>
          </a:xfrm>
          <a:prstGeom prst="rect">
            <a:avLst/>
          </a:prstGeom>
          <a:solidFill>
            <a:srgbClr val="67534F">
              <a:alpha val="5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449461" y="7057787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Financial Impact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49461" y="7426166"/>
            <a:ext cx="4321493" cy="333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10–15% reduction in operational costs and 20% decrease in resource wastage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091708" y="7057787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Service Quality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091708" y="7426166"/>
            <a:ext cx="4321493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50–70% faster reporting and 40–50% quicker fault response times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9733955" y="7057787"/>
            <a:ext cx="184606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Digital Adoption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733955" y="7426166"/>
            <a:ext cx="4461986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 staff trained on AI tools with 70%+ organizational adoption rate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6722" y="527685"/>
            <a:ext cx="6609874" cy="715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Risk Management &amp; Ethics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156722" y="1530668"/>
            <a:ext cx="7803356" cy="1399222"/>
          </a:xfrm>
          <a:prstGeom prst="roundRect">
            <a:avLst>
              <a:gd name="adj" fmla="val 5749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79582" y="1553528"/>
            <a:ext cx="766048" cy="1353503"/>
          </a:xfrm>
          <a:prstGeom prst="roundRect">
            <a:avLst>
              <a:gd name="adj" fmla="val 6920"/>
            </a:avLst>
          </a:prstGeom>
          <a:solidFill>
            <a:srgbClr val="FFFFF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7587" y="2086689"/>
            <a:ext cx="287179" cy="287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7083" y="1744980"/>
            <a:ext cx="275308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Cybersecurity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137083" y="2217658"/>
            <a:ext cx="6608683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robust security protocols to protect AI-driven systems from threats and breaches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156722" y="3121343"/>
            <a:ext cx="7803356" cy="1399222"/>
          </a:xfrm>
          <a:prstGeom prst="roundRect">
            <a:avLst>
              <a:gd name="adj" fmla="val 5749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79582" y="3144203"/>
            <a:ext cx="766048" cy="1353503"/>
          </a:xfrm>
          <a:prstGeom prst="roundRect">
            <a:avLst>
              <a:gd name="adj" fmla="val 6920"/>
            </a:avLst>
          </a:prstGeom>
          <a:solidFill>
            <a:srgbClr val="FFFFF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7587" y="3677364"/>
            <a:ext cx="287179" cy="2871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7083" y="3335655"/>
            <a:ext cx="275308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Workforce Transition</a:t>
            </a: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7137083" y="3808333"/>
            <a:ext cx="6608683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upskilling rather than replacement; address resistance through training and transparency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156722" y="4712018"/>
            <a:ext cx="7803356" cy="1399222"/>
          </a:xfrm>
          <a:prstGeom prst="roundRect">
            <a:avLst>
              <a:gd name="adj" fmla="val 5749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79582" y="4734878"/>
            <a:ext cx="766048" cy="1353503"/>
          </a:xfrm>
          <a:prstGeom prst="roundRect">
            <a:avLst>
              <a:gd name="adj" fmla="val 6920"/>
            </a:avLst>
          </a:prstGeom>
          <a:solidFill>
            <a:srgbClr val="FFFFF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7587" y="5268039"/>
            <a:ext cx="287179" cy="28717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7083" y="4926330"/>
            <a:ext cx="275308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Integrity</a:t>
            </a:r>
            <a:endParaRPr lang="en-US" sz="2150" dirty="0"/>
          </a:p>
        </p:txBody>
      </p:sp>
      <p:sp>
        <p:nvSpPr>
          <p:cNvPr id="18" name="Text 12"/>
          <p:cNvSpPr/>
          <p:nvPr/>
        </p:nvSpPr>
        <p:spPr>
          <a:xfrm>
            <a:off x="7137083" y="5399008"/>
            <a:ext cx="6608683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 accuracy in predictive algorithms and maintain strict confidentiality of operational data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156722" y="6302693"/>
            <a:ext cx="7803356" cy="1399222"/>
          </a:xfrm>
          <a:prstGeom prst="roundRect">
            <a:avLst>
              <a:gd name="adj" fmla="val 5749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79582" y="6325553"/>
            <a:ext cx="766048" cy="1353503"/>
          </a:xfrm>
          <a:prstGeom prst="roundRect">
            <a:avLst>
              <a:gd name="adj" fmla="val 6920"/>
            </a:avLst>
          </a:prstGeom>
          <a:solidFill>
            <a:srgbClr val="FFFFF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7587" y="6858714"/>
            <a:ext cx="287179" cy="28717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7083" y="6517005"/>
            <a:ext cx="275308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IP Protection</a:t>
            </a:r>
            <a:endParaRPr lang="en-US" sz="2150" dirty="0"/>
          </a:p>
        </p:txBody>
      </p:sp>
      <p:sp>
        <p:nvSpPr>
          <p:cNvPr id="23" name="Text 16"/>
          <p:cNvSpPr/>
          <p:nvPr/>
        </p:nvSpPr>
        <p:spPr>
          <a:xfrm>
            <a:off x="7137083" y="6989683"/>
            <a:ext cx="6608683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proprietary AI algorithms, dashboards, and maintain data ownership agreements with vendors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602"/>
            <a:ext cx="11261288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SSGC Site Visit &amp; Stakeholder Meeting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118955"/>
            <a:ext cx="1304282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part of our initial engagement phase, a comprehensive site visit was conducted at SSGC facilities. This visit facilitated direct collaboration with key personnel, allowing our team to gain deeper insights into existing operational workflows and infrastructure.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3404473"/>
            <a:ext cx="4221599" cy="2721888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460" y="3404473"/>
            <a:ext cx="4221599" cy="272188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510" y="3404473"/>
            <a:ext cx="4221599" cy="27218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3790" y="6527483"/>
            <a:ext cx="1304282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crucial stakeholder engagement and requirements gathering sessions were instrumental in validating our preliminary assessments and ensuring precise alignment on the strategic objectives for the upcoming AI-powered forecasting and automation initiative.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2025-11-16T20:28:36Z</dcterms:created>
  <dcterms:modified xsi:type="dcterms:W3CDTF">2025-11-16T20:28:36Z</dcterms:modified>
</cp:coreProperties>
</file>